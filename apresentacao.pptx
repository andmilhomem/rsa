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05" r:id="rId2"/>
    <p:sldId id="311" r:id="rId3"/>
    <p:sldId id="313" r:id="rId4"/>
    <p:sldId id="314" r:id="rId5"/>
    <p:sldId id="315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C19C8855-F4A3-45A0-AB50-C98B7D33AC23}">
          <p14:sldIdLst>
            <p14:sldId id="305"/>
            <p14:sldId id="311"/>
          </p14:sldIdLst>
        </p14:section>
        <p14:section name="Seção sem Título" id="{9539D1DE-B482-49EE-9DFD-18E91C702E0F}">
          <p14:sldIdLst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96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CB425-6B16-4420-853B-0343FC6C09B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B8A64-72BB-4D33-92B2-50EC3F8A37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156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02383-5A9D-FA49-88BE-40FADBEF5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035990-A928-0D6D-CFE2-C53693483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943A5C-F2E5-1C32-3A8A-59728C4B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6C967D-F499-045E-79EA-0BD8DE11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5A6A96-8783-6DAB-9119-85CA4BCB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33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45F9C-F5EA-7BC6-A7A2-979A6A7B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3601C2-6DE3-34B8-C126-9868514DD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27DE3D-995B-F8A7-D182-DD310C2C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D148F7-B814-256B-8174-A2A50E67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4356C4-C68A-57DB-D931-FC394A14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29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E27F1-C21E-2DA8-C169-E77CCFE99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C1E99A-D47A-25A3-F431-970BE73A7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F7A71E-05D4-F389-5499-D3026C54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5E1939-5F66-B3E5-08A4-AA571E1F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07094D-3B95-8677-C7F3-3D1AFA5B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26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4E22B-DEC5-AE37-3DC7-E6950B5E7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927C69-3EB6-A041-88DC-D3E206304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DB65D9-F45B-B067-4722-869164CB7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C8776C-3B42-7123-B776-C39764F37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83D505-EFAA-2614-2592-BA0EF4AE4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315AA4-6D4D-675D-9B7C-2752DF1D0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80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D5F36-2110-F45E-DEBA-688331BEF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192FF2-DF23-3DA4-FDC7-D4D38B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F17CDB-648D-52DF-F8BD-98A63F454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439EDEC-CB53-CD24-9452-05F6710DF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DAEFB3F-FEE3-D12E-685F-776CB3EF7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533B77-2B00-A767-4EC7-E789F45E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78019B6-F58F-5345-DEEA-519D675A2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E0173A2-C623-A2DA-F16D-BAD9A9C1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449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8D6CE-511A-70FC-7148-62BCBB3CC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E09FF40-9612-10A7-5B7C-AF710A97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51C49A4-C98A-64F7-D120-4D930D30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E9889F-794A-1585-04DB-CA949A91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66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B735FA-964F-1861-25B5-7BB757D7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4474B6-571B-9114-8F66-7EE54681F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3E4C38-A69C-8D48-D7E7-B5582D4D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507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FAD37-8ECB-52FD-7BD0-EB5D8B20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6EDB0B-4150-E868-7DF0-EA328BA0C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EE028D-A5BE-5170-83B5-2B3DB3B68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E2F53B-47AA-F386-D3FA-ECDFAFA9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BE164E-F38E-2F8C-C27C-A5722864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887022-F879-D825-35BC-76EDBD9A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920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2F70C-9283-4192-3C08-1F4B2F96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3B56C1F-2AC3-9A5A-C434-7E52DE521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64EFEE-F19A-FA08-4D6E-540ED844D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2E72B4-112A-66B7-7F2D-2EE4439C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4E32C8-4FCF-3A5A-9508-E91B465F9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9DB4CC-4B6C-478C-19C8-D6B55F95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550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C4BAB-4E9F-4AD1-6EAF-7D45FDB9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4E1FD3-55F7-D3B7-C9D3-660263674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04DA5E-2C3F-D33F-D1CA-E277305A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E98D64-9793-F120-AEB8-39CA6EFC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BBF841-2884-C282-24BF-BEE07D68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58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258B47-E08F-1B87-EE85-E3ABB6B073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A48FD8-BBE5-364F-4471-9FAD0EAC1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6B75BE-2334-9D0E-4608-41775379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57EACD-8299-03EB-18C6-0D88FB055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BC2EC5-6F69-A24B-3E07-0C9A04F59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6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D761A2D-4986-11F4-3760-DAC58B29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622420-9C49-F479-BCE1-1C895F173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CB5A5A-4A5D-51A2-F422-D367F2114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E59F8-6470-4012-81A2-D9DA72D5337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A8C46A-9874-718D-BCE7-E024B3C8C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BE6CE1-24EA-927E-733F-743FAD250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28304-B5CF-4CB6-B3E9-5559B74CE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685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6712-73CA-80A3-C58C-A2D826E62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3302066-0064-91E3-C43F-D6FB43B2ECA1}"/>
              </a:ext>
            </a:extLst>
          </p:cNvPr>
          <p:cNvSpPr txBox="1"/>
          <p:nvPr/>
        </p:nvSpPr>
        <p:spPr>
          <a:xfrm>
            <a:off x="515471" y="264861"/>
            <a:ext cx="1105796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u="sng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46AEAF2-5CF4-0898-8E46-770589DE20C6}"/>
              </a:ext>
            </a:extLst>
          </p:cNvPr>
          <p:cNvSpPr txBox="1"/>
          <p:nvPr/>
        </p:nvSpPr>
        <p:spPr>
          <a:xfrm>
            <a:off x="2971800" y="5939011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400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Brasília, 5 maio 2026</a:t>
            </a:r>
            <a:endParaRPr lang="pt-BR" sz="1400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 descr="Imagem de desenho animado&#10;&#10;O conteúdo gerado por IA pode estar incorreto.">
            <a:extLst>
              <a:ext uri="{FF2B5EF4-FFF2-40B4-BE49-F238E27FC236}">
                <a16:creationId xmlns:a16="http://schemas.microsoft.com/office/drawing/2014/main" id="{72AFA268-10CC-4CD0-581F-EA253E6A3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53" y="304580"/>
            <a:ext cx="1653745" cy="42330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BBDF0FF-8DD1-C74A-8829-4C06FAC906D9}"/>
              </a:ext>
            </a:extLst>
          </p:cNvPr>
          <p:cNvSpPr txBox="1"/>
          <p:nvPr/>
        </p:nvSpPr>
        <p:spPr>
          <a:xfrm>
            <a:off x="242048" y="6404384"/>
            <a:ext cx="11949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160023629: Ana Paula Gomes de Matos | 202033427: André Milhomem A. Godoi | 231006239: Geilson dos Santos Sa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FFD47E4-1870-3CED-AE23-15BE8B00A09C}"/>
                  </a:ext>
                </a:extLst>
              </p:cNvPr>
              <p:cNvSpPr txBox="1"/>
              <p:nvPr/>
            </p:nvSpPr>
            <p:spPr>
              <a:xfrm>
                <a:off x="491319" y="1086853"/>
                <a:ext cx="11209361" cy="6278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AutoNum type="arabicParenR"/>
                </a:pP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Geração das chaves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p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e </a:t>
                </a: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q : 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função </a:t>
                </a:r>
                <a:r>
                  <a:rPr lang="pt-BR" i="1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gera_primo</a:t>
                </a:r>
                <a:endParaRPr lang="pt-BR" i="1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função </a:t>
                </a:r>
                <a:r>
                  <a:rPr lang="pt-BR" i="1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secrets.randbelow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gera número inteiro aleatório no intervalo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pt-BR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[2</m:t>
                        </m:r>
                      </m:e>
                      <m:sup>
                        <m:r>
                          <a:rPr lang="pt-BR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1024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pt-BR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pt-BR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1025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pt-BR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função </a:t>
                </a:r>
                <a:r>
                  <a:rPr lang="pt-BR" i="1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aplica_miller_rebin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– realiza teste probabilístico de </a:t>
                </a:r>
                <a:r>
                  <a:rPr lang="pt-BR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primalidade</a:t>
                </a:r>
                <a:endParaRPr lang="pt-BR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n :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n = </a:t>
                </a:r>
                <a:r>
                  <a:rPr lang="pt-BR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p.q</a:t>
                </a:r>
                <a:endParaRPr lang="pt-BR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e :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função </a:t>
                </a:r>
                <a:r>
                  <a:rPr lang="pt-BR" i="1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gera_e</a:t>
                </a:r>
                <a:endParaRPr lang="pt-BR" i="1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inicializa </a:t>
                </a: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e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como 65537 e considera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𝛟</m:t>
                    </m:r>
                    <m:r>
                      <a:rPr lang="pt-BR" b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pt-BR" b="1" i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𝐧</m:t>
                    </m:r>
                    <m:r>
                      <a:rPr lang="pt-BR" b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= (p-1)(q-1) 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checa se </a:t>
                </a: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e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e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rgbClr val="2424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𝛟</m:t>
                    </m:r>
                    <m:r>
                      <a:rPr lang="pt-BR" b="1">
                        <a:solidFill>
                          <a:srgbClr val="2424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pt-BR" b="1" i="1">
                        <a:solidFill>
                          <a:srgbClr val="2424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𝐧</m:t>
                    </m:r>
                    <m:r>
                      <a:rPr lang="pt-BR" b="1">
                        <a:solidFill>
                          <a:srgbClr val="2424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são </a:t>
                </a:r>
                <a:r>
                  <a:rPr lang="pt-BR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coprimos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pt-BR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mdc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= 1)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em caso negativo, testa próximo número ímpar até encontrar </a:t>
                </a: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e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pt-BR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coprimo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de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𝛟</m:t>
                    </m:r>
                    <m:r>
                      <a:rPr lang="pt-BR" b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pt-BR" b="1" i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𝐧</m:t>
                    </m:r>
                    <m:r>
                      <a:rPr lang="pt-BR" b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pt-BR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d :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função </a:t>
                </a:r>
                <a:r>
                  <a:rPr lang="pt-BR" i="1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pow</a:t>
                </a:r>
                <a:r>
                  <a:rPr lang="pt-BR" i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(nativa do Python)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calcula </a:t>
                </a: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d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como o inverso de </a:t>
                </a: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e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módulo </a:t>
                </a:r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𝛟</m:t>
                    </m:r>
                    <m:d>
                      <m:dPr>
                        <m:ctrlPr>
                          <a:rPr lang="pt-BR" b="1" i="1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𝐧</m:t>
                        </m:r>
                      </m:e>
                    </m:d>
                  </m:oMath>
                </a14:m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, isto é, </a:t>
                </a:r>
                <a:r>
                  <a:rPr lang="pt-BR" b="1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d.e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≡</m:t>
                    </m:r>
                    <m:r>
                      <a:rPr lang="pt-BR" b="0" i="0" smtClean="0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1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pt-BR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mod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𝛟</m:t>
                    </m:r>
                    <m:r>
                      <a:rPr lang="pt-BR" b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pt-BR" b="1" i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𝐧</m:t>
                    </m:r>
                    <m:r>
                      <a:rPr lang="pt-BR" b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)</a:t>
                </a:r>
                <a:endParaRPr lang="pt-BR" b="0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pt-BR" dirty="0"/>
              </a:p>
              <a:p>
                <a:pPr algn="just">
                  <a:lnSpc>
                    <a:spcPct val="150000"/>
                  </a:lnSpc>
                </a:pPr>
                <a:endParaRPr lang="pt-BR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 algn="just">
                  <a:lnSpc>
                    <a:spcPct val="150000"/>
                  </a:lnSpc>
                </a:pPr>
                <a:endParaRPr lang="pt-BR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FFD47E4-1870-3CED-AE23-15BE8B00A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19" y="1086853"/>
                <a:ext cx="11209361" cy="6278129"/>
              </a:xfrm>
              <a:prstGeom prst="rect">
                <a:avLst/>
              </a:prstGeom>
              <a:blipFill>
                <a:blip r:embed="rId3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9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95"/>
    </mc:Choice>
    <mc:Fallback xmlns="">
      <p:transition spd="slow" advTm="549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9B97-5145-76AA-6584-F5AB6942E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B609C7B-3F86-7FF6-5027-5F8563B9FBE5}"/>
              </a:ext>
            </a:extLst>
          </p:cNvPr>
          <p:cNvSpPr txBox="1"/>
          <p:nvPr/>
        </p:nvSpPr>
        <p:spPr>
          <a:xfrm>
            <a:off x="515471" y="264861"/>
            <a:ext cx="1105796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u="sng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57B590-BEC4-BBD8-47C9-56FD65745FF1}"/>
              </a:ext>
            </a:extLst>
          </p:cNvPr>
          <p:cNvSpPr txBox="1"/>
          <p:nvPr/>
        </p:nvSpPr>
        <p:spPr>
          <a:xfrm>
            <a:off x="2971800" y="5939011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400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Brasília, 5 maio 2026</a:t>
            </a:r>
            <a:endParaRPr lang="pt-BR" sz="1400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 descr="Imagem de desenho animado&#10;&#10;O conteúdo gerado por IA pode estar incorreto.">
            <a:extLst>
              <a:ext uri="{FF2B5EF4-FFF2-40B4-BE49-F238E27FC236}">
                <a16:creationId xmlns:a16="http://schemas.microsoft.com/office/drawing/2014/main" id="{BC7F6B05-3775-F56A-39EC-4071CAF68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53" y="304580"/>
            <a:ext cx="1653745" cy="42330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D47CBE1-E15D-8015-101A-2BD4B15490E5}"/>
              </a:ext>
            </a:extLst>
          </p:cNvPr>
          <p:cNvSpPr txBox="1"/>
          <p:nvPr/>
        </p:nvSpPr>
        <p:spPr>
          <a:xfrm>
            <a:off x="242048" y="6404384"/>
            <a:ext cx="11949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160023629: Ana Paula Gomes de Matos | 202033427: André Milhomem A. Godoi | 231006239: Geilson dos Santos Sa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46A1844-F6AA-7D3E-A6BB-AC58FFC33C7F}"/>
                  </a:ext>
                </a:extLst>
              </p:cNvPr>
              <p:cNvSpPr txBox="1"/>
              <p:nvPr/>
            </p:nvSpPr>
            <p:spPr>
              <a:xfrm>
                <a:off x="491319" y="1086853"/>
                <a:ext cx="11209361" cy="6720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2) Cifragem e decifragem de mensagens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função </a:t>
                </a:r>
                <a:r>
                  <a:rPr lang="pt-BR" i="1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cifra_decifra</a:t>
                </a:r>
                <a:r>
                  <a:rPr lang="pt-BR" i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(invoca função </a:t>
                </a:r>
                <a:r>
                  <a:rPr lang="pt-BR" i="1" dirty="0" err="1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pow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cifrar: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0" smtClean="0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pt-BR" b="1" i="0" smtClean="0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𝐜</m:t>
                        </m:r>
                        <m:r>
                          <a:rPr lang="pt-BR" b="0" i="0" smtClean="0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= </m:t>
                        </m:r>
                        <m:r>
                          <a:rPr lang="pt-BR" b="1" i="0" smtClean="0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𝐦</m:t>
                        </m:r>
                      </m:e>
                      <m:sup>
                        <m:r>
                          <a:rPr lang="pt-BR" b="1" i="0" smtClean="0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𝐞</m:t>
                        </m:r>
                      </m:sup>
                    </m:sSup>
                    <m:r>
                      <a:rPr lang="pt-BR" b="0" i="1" smtClean="0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mod</m:t>
                    </m:r>
                    <m:r>
                      <a:rPr lang="pt-BR" b="0" i="1" smtClean="0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pt-BR" b="1" i="0" smtClean="0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𝐧</m:t>
                    </m:r>
                  </m:oMath>
                </a14:m>
                <a:r>
                  <a:rPr lang="pt-BR" b="0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(chave pública do destinatário)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decifrar: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pt-BR" b="1" i="0" smtClean="0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𝐦</m:t>
                        </m:r>
                        <m:r>
                          <a:rPr lang="pt-BR" b="1" i="0" smtClean="0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 = </m:t>
                        </m:r>
                        <m:r>
                          <a:rPr lang="pt-BR" b="1" i="0" smtClean="0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𝐜</m:t>
                        </m:r>
                      </m:e>
                      <m:sup>
                        <m:r>
                          <a:rPr lang="pt-BR" b="1" i="0" smtClean="0">
                            <a:solidFill>
                              <a:srgbClr val="2424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𝐝</m:t>
                        </m:r>
                      </m:sup>
                    </m:sSup>
                    <m:r>
                      <a:rPr lang="pt-BR" i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pt-BR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mod</m:t>
                    </m:r>
                    <m:r>
                      <a:rPr lang="pt-BR" i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pt-BR" b="1">
                        <a:solidFill>
                          <a:srgbClr val="2424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𝐧</m:t>
                    </m:r>
                  </m:oMath>
                </a14:m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(chave privada do destinatário)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premissa: para </a:t>
                </a: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m 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&lt;</a:t>
                </a: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n</a:t>
                </a: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, a cifragem é invertível pela decifragem (fundamento: Teorema de Euler)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b="1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3) Geração e verificação de assinatura</a:t>
                </a:r>
                <a:endParaRPr lang="pt-BR" i="1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funções </a:t>
                </a:r>
                <a:r>
                  <a:rPr lang="pt-BR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assina_mensagem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pt-BR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empacota_pss</a:t>
                </a:r>
                <a:r>
                  <a:rPr lang="pt-BR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e </a:t>
                </a:r>
                <a:r>
                  <a:rPr lang="pt-BR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desempacota_pss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gerar </a:t>
                </a:r>
                <a:r>
                  <a:rPr lang="pt-BR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hash</a:t>
                </a:r>
                <a:r>
                  <a:rPr lang="pt-BR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hashlib.sha3_256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cifrar </a:t>
                </a:r>
                <a:r>
                  <a:rPr lang="pt-BR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hash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𝐚</m:t>
                    </m:r>
                    <m:r>
                      <a:rPr lang="pt-BR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pt-BR" b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pt-BR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e>
                      <m:sup>
                        <m:r>
                          <a:rPr lang="pt-BR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𝐝</m:t>
                        </m:r>
                        <m:r>
                          <a:rPr lang="pt-BR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</m:sup>
                    </m:sSup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mod</m:t>
                    </m:r>
                    <m:r>
                      <a:rPr lang="pt-BR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𝐧</m:t>
                    </m:r>
                  </m:oMath>
                </a14:m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(chave privada do remetente)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compartilhar mensagem e </a:t>
                </a:r>
                <a:r>
                  <a:rPr lang="pt-BR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hash</a:t>
                </a:r>
                <a:r>
                  <a:rPr lang="pt-BR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cifrado</a:t>
                </a:r>
                <a:r>
                  <a:rPr lang="pt-BR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decifrar </a:t>
                </a:r>
                <a:r>
                  <a:rPr lang="pt-BR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hash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h’ 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pt-BR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𝐚</m:t>
                        </m:r>
                      </m:e>
                      <m:sup>
                        <m:r>
                          <a:rPr lang="pt-BR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𝐞</m:t>
                        </m:r>
                      </m:sup>
                    </m:sSup>
                    <m:r>
                      <a:rPr lang="pt-BR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mod</m:t>
                    </m:r>
                    <m:r>
                      <a:rPr lang="pt-BR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𝐧</m:t>
                    </m:r>
                  </m:oMath>
                </a14:m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(chave pública do remetente)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verificar </a:t>
                </a:r>
                <a:r>
                  <a:rPr lang="pt-BR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hash</a:t>
                </a:r>
                <a:r>
                  <a:rPr lang="pt-BR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h’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pt-BR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lvl="1" algn="just">
                  <a:lnSpc>
                    <a:spcPct val="150000"/>
                  </a:lnSpc>
                </a:pPr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pt-BR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 algn="just">
                  <a:lnSpc>
                    <a:spcPct val="150000"/>
                  </a:lnSpc>
                </a:pPr>
                <a:endParaRPr lang="pt-BR" dirty="0">
                  <a:solidFill>
                    <a:srgbClr val="24245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dirty="0">
                    <a:solidFill>
                      <a:srgbClr val="2424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46A1844-F6AA-7D3E-A6BB-AC58FFC33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19" y="1086853"/>
                <a:ext cx="11209361" cy="6720429"/>
              </a:xfrm>
              <a:prstGeom prst="rect">
                <a:avLst/>
              </a:prstGeom>
              <a:blipFill>
                <a:blip r:embed="rId3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511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95"/>
    </mc:Choice>
    <mc:Fallback>
      <p:transition spd="slow" advTm="549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C4338-24FB-D345-220E-FC7993CA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7933F8F-FC04-DBED-D446-BF9A86F942AB}"/>
              </a:ext>
            </a:extLst>
          </p:cNvPr>
          <p:cNvSpPr txBox="1"/>
          <p:nvPr/>
        </p:nvSpPr>
        <p:spPr>
          <a:xfrm>
            <a:off x="515471" y="264861"/>
            <a:ext cx="1105796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u="sng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CF86B95-B75F-085B-B8BF-79ADB0BBE75E}"/>
              </a:ext>
            </a:extLst>
          </p:cNvPr>
          <p:cNvSpPr txBox="1"/>
          <p:nvPr/>
        </p:nvSpPr>
        <p:spPr>
          <a:xfrm>
            <a:off x="2971800" y="5939011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400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Brasília, 5 maio 2026</a:t>
            </a:r>
            <a:endParaRPr lang="pt-BR" sz="1400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 descr="Imagem de desenho animado&#10;&#10;O conteúdo gerado por IA pode estar incorreto.">
            <a:extLst>
              <a:ext uri="{FF2B5EF4-FFF2-40B4-BE49-F238E27FC236}">
                <a16:creationId xmlns:a16="http://schemas.microsoft.com/office/drawing/2014/main" id="{996D94D4-308E-7C7A-A3DD-A9622B120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53" y="304580"/>
            <a:ext cx="1653745" cy="42330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303EEB8-CE0F-7458-FBFA-00684BD6A7B4}"/>
              </a:ext>
            </a:extLst>
          </p:cNvPr>
          <p:cNvSpPr txBox="1"/>
          <p:nvPr/>
        </p:nvSpPr>
        <p:spPr>
          <a:xfrm>
            <a:off x="242048" y="6404384"/>
            <a:ext cx="11949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160023629: Ana Paula Gomes de Matos | 202033427: André Milhomem A. Godoi | 231006239: Geilson dos Santos Sa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4860B7B-1BA0-82D1-91B8-86CF1CBA34B5}"/>
              </a:ext>
            </a:extLst>
          </p:cNvPr>
          <p:cNvSpPr txBox="1"/>
          <p:nvPr/>
        </p:nvSpPr>
        <p:spPr>
          <a:xfrm>
            <a:off x="491319" y="1086853"/>
            <a:ext cx="11209361" cy="585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4) Esquemas OAEP e PSS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esquemas complementares ao RSA, previstos na RFC 8017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OAEP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mensagens; PSS  assinaturas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objetivo: adicionar elemento de aleatoriedade ao RSA (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seed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no OAEP,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salt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no PSS)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esquemas aplicados antes da cifragem, que passa a incidir sobre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encoded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message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), não diretamente sobre a mensagem original (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ou o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hash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funções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empacota_oaep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desempacota_oaep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empacota_pss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desempacota_pss</a:t>
            </a:r>
            <a:endParaRPr lang="pt-BR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elementos: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função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secrets.token_bytes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gera componentes aleatórios (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seed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salt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BR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função 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aplica_mgf1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função geradora de máscaras (para operações 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XOR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6758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95"/>
    </mc:Choice>
    <mc:Fallback>
      <p:transition spd="slow" advTm="549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8C62-E0A1-F84A-5DD7-233006A28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455B405-E54C-2B2F-BFCB-2A3607C71FA7}"/>
              </a:ext>
            </a:extLst>
          </p:cNvPr>
          <p:cNvSpPr txBox="1"/>
          <p:nvPr/>
        </p:nvSpPr>
        <p:spPr>
          <a:xfrm>
            <a:off x="2257835" y="5335130"/>
            <a:ext cx="28327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OAEP (mensagens)</a:t>
            </a: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u="sng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BB932B8-B9F6-924F-3EF1-FAD32BD12E1F}"/>
              </a:ext>
            </a:extLst>
          </p:cNvPr>
          <p:cNvSpPr txBox="1"/>
          <p:nvPr/>
        </p:nvSpPr>
        <p:spPr>
          <a:xfrm>
            <a:off x="2971800" y="5939011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400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Brasília, 5 maio 2026</a:t>
            </a:r>
            <a:endParaRPr lang="pt-BR" sz="1400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 descr="Imagem de desenho animado&#10;&#10;O conteúdo gerado por IA pode estar incorreto.">
            <a:extLst>
              <a:ext uri="{FF2B5EF4-FFF2-40B4-BE49-F238E27FC236}">
                <a16:creationId xmlns:a16="http://schemas.microsoft.com/office/drawing/2014/main" id="{7784E30A-66C4-0140-B617-A500C3601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53" y="304580"/>
            <a:ext cx="1653745" cy="42330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115FF1F-547F-3CC2-D9DB-ECACFC401EDD}"/>
              </a:ext>
            </a:extLst>
          </p:cNvPr>
          <p:cNvSpPr txBox="1"/>
          <p:nvPr/>
        </p:nvSpPr>
        <p:spPr>
          <a:xfrm>
            <a:off x="242048" y="6404384"/>
            <a:ext cx="11949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160023629: Ana Paula Gomes de Matos | 202033427: André Milhomem A. Godoi | 231006239: Geilson dos Santos Sa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2715639-9697-20BF-1990-75DFA2C2A3FC}"/>
              </a:ext>
            </a:extLst>
          </p:cNvPr>
          <p:cNvSpPr txBox="1"/>
          <p:nvPr/>
        </p:nvSpPr>
        <p:spPr>
          <a:xfrm>
            <a:off x="491319" y="1086853"/>
            <a:ext cx="11209361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4) Esquemas OAEP e PSS</a:t>
            </a:r>
          </a:p>
          <a:p>
            <a:pPr lvl="1"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CC67682-488A-C76E-3C31-E379F394D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977671"/>
            <a:ext cx="4673889" cy="453506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93965DD-5D2F-1906-A7B7-9142CE4D00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82" y="1842662"/>
            <a:ext cx="5176598" cy="361991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A4597E8-5D12-7FE1-2576-04EBD16271AD}"/>
              </a:ext>
            </a:extLst>
          </p:cNvPr>
          <p:cNvSpPr txBox="1"/>
          <p:nvPr/>
        </p:nvSpPr>
        <p:spPr>
          <a:xfrm>
            <a:off x="667871" y="417261"/>
            <a:ext cx="1105796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u="sng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FB4EFCE-A050-5207-22E9-4D6202A5E628}"/>
              </a:ext>
            </a:extLst>
          </p:cNvPr>
          <p:cNvSpPr txBox="1"/>
          <p:nvPr/>
        </p:nvSpPr>
        <p:spPr>
          <a:xfrm>
            <a:off x="7434433" y="5348111"/>
            <a:ext cx="28327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PSS (assinaturas)</a:t>
            </a: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u="sng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968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95"/>
    </mc:Choice>
    <mc:Fallback>
      <p:transition spd="slow" advTm="549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2F387-971F-A0C4-6B1E-07966DC4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22ADDAB-9A28-1E40-62F2-DDB6EA41C162}"/>
              </a:ext>
            </a:extLst>
          </p:cNvPr>
          <p:cNvSpPr txBox="1"/>
          <p:nvPr/>
        </p:nvSpPr>
        <p:spPr>
          <a:xfrm>
            <a:off x="515471" y="264861"/>
            <a:ext cx="1105796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A33ACBB-0783-76E9-3992-F0359D3D92CF}"/>
              </a:ext>
            </a:extLst>
          </p:cNvPr>
          <p:cNvSpPr txBox="1"/>
          <p:nvPr/>
        </p:nvSpPr>
        <p:spPr>
          <a:xfrm>
            <a:off x="2971800" y="5939011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400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Brasília, 5 maio 2026</a:t>
            </a:r>
            <a:endParaRPr lang="pt-BR" sz="1400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 descr="Imagem de desenho animado&#10;&#10;O conteúdo gerado por IA pode estar incorreto.">
            <a:extLst>
              <a:ext uri="{FF2B5EF4-FFF2-40B4-BE49-F238E27FC236}">
                <a16:creationId xmlns:a16="http://schemas.microsoft.com/office/drawing/2014/main" id="{A8F71782-6F86-5C1B-D1F8-D37A057D3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53" y="304580"/>
            <a:ext cx="1653745" cy="42330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3CDC522-BF59-FCFA-573B-ACB52AACD35B}"/>
              </a:ext>
            </a:extLst>
          </p:cNvPr>
          <p:cNvSpPr txBox="1"/>
          <p:nvPr/>
        </p:nvSpPr>
        <p:spPr>
          <a:xfrm>
            <a:off x="242048" y="6404384"/>
            <a:ext cx="11949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160023629: Ana Paula Gomes de Matos | 202033427: André Milhomem A. Godoi | 231006239: Geilson dos Santos Sa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31393E-2BE3-209D-30AC-407973DBC1DB}"/>
              </a:ext>
            </a:extLst>
          </p:cNvPr>
          <p:cNvSpPr txBox="1"/>
          <p:nvPr/>
        </p:nvSpPr>
        <p:spPr>
          <a:xfrm>
            <a:off x="491319" y="1086853"/>
            <a:ext cx="11209361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5) Resultados e conclusões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					</a:t>
            </a:r>
          </a:p>
          <a:p>
            <a:pPr lvl="1"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559957D-7359-446F-6F95-3E937B7EB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08" y="1801166"/>
            <a:ext cx="5438425" cy="360282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AA85BD6-E84C-583A-DE72-A3296CD63CF8}"/>
              </a:ext>
            </a:extLst>
          </p:cNvPr>
          <p:cNvSpPr txBox="1"/>
          <p:nvPr/>
        </p:nvSpPr>
        <p:spPr>
          <a:xfrm>
            <a:off x="6162433" y="1541779"/>
            <a:ext cx="5507808" cy="585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 geração de chaves e a cifragem/decifragem (para </a:t>
            </a: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ou </a:t>
            </a: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grandes) são computacionalmente custosas.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 RSA, há limitação significativa do tamanho das mensagens (porque </a:t>
            </a: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</a:t>
            </a: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&lt; </a:t>
            </a: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</a:t>
            </a: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Os esquemas OAEP e PSS adicionam uma camada de segurança ao RSA, mas consomem espaço útil das mensagens.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</a:p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repositório: </a:t>
            </a: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github.com/andmilhomem/rsa	</a:t>
            </a:r>
          </a:p>
          <a:p>
            <a:pPr lvl="1"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</a:pPr>
            <a:endParaRPr lang="pt-BR" dirty="0">
              <a:solidFill>
                <a:srgbClr val="2424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rgbClr val="2424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4807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95"/>
    </mc:Choice>
    <mc:Fallback>
      <p:transition spd="slow" advTm="549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17274</TotalTime>
  <Words>625</Words>
  <Application>Microsoft Office PowerPoint</Application>
  <PresentationFormat>Widescreen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Milhomem Araújo de Godoi</dc:creator>
  <cp:lastModifiedBy>André Milhomem Araújo de Godoi</cp:lastModifiedBy>
  <cp:revision>23</cp:revision>
  <dcterms:created xsi:type="dcterms:W3CDTF">2025-10-27T19:45:10Z</dcterms:created>
  <dcterms:modified xsi:type="dcterms:W3CDTF">2026-05-05T23:40:54Z</dcterms:modified>
</cp:coreProperties>
</file>